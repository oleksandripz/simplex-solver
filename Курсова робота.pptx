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chivo Black" charset="1" panose="020B0A03020202020B04"/>
      <p:regular r:id="rId15"/>
    </p:embeddedFont>
    <p:embeddedFont>
      <p:font typeface="Garet Bold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85470" y="6394076"/>
            <a:ext cx="9373830" cy="3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Розв’язання задачі математичного програмування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ВИКОНАВ СТУДЕНТ: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966251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Олександр Сушко ІПЗ-23-1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85854" y="3950633"/>
            <a:ext cx="10773446" cy="1228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490"/>
              </a:lnSpc>
              <a:spcBef>
                <a:spcPct val="0"/>
              </a:spcBef>
            </a:pPr>
            <a:r>
              <a:rPr lang="en-US" sz="10885" spc="-85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КУРСОВА РОБОТА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9422" y="4085693"/>
            <a:ext cx="10829676" cy="1906286"/>
          </a:xfrm>
          <a:custGeom>
            <a:avLst/>
            <a:gdLst/>
            <a:ahLst/>
            <a:cxnLst/>
            <a:rect r="r" b="b" t="t" l="l"/>
            <a:pathLst>
              <a:path h="1906286" w="10829676">
                <a:moveTo>
                  <a:pt x="0" y="0"/>
                </a:moveTo>
                <a:lnTo>
                  <a:pt x="10829676" y="0"/>
                </a:lnTo>
                <a:lnTo>
                  <a:pt x="10829676" y="1906286"/>
                </a:lnTo>
                <a:lnTo>
                  <a:pt x="0" y="1906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814799" y="810701"/>
            <a:ext cx="10773446" cy="338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490"/>
              </a:lnSpc>
              <a:spcBef>
                <a:spcPct val="0"/>
              </a:spcBef>
            </a:pPr>
            <a:r>
              <a:rPr lang="en-US" sz="10885" spc="-85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ЗАДАЧА КУРСОВОЇ РОБОТИ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4515" y="6897991"/>
            <a:ext cx="8075746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-23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Потрібно визначити оптимальне завантаження устаткування, яке забезпечуватиме мінімізацію сумарних витрат при обсязі робіт A = 6000 м3,  B = 50000 м3, С = 8000 м3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0617" y="4576794"/>
            <a:ext cx="10535220" cy="564062"/>
          </a:xfrm>
          <a:custGeom>
            <a:avLst/>
            <a:gdLst/>
            <a:ahLst/>
            <a:cxnLst/>
            <a:rect r="r" b="b" t="t" l="l"/>
            <a:pathLst>
              <a:path h="564062" w="10535220">
                <a:moveTo>
                  <a:pt x="0" y="0"/>
                </a:moveTo>
                <a:lnTo>
                  <a:pt x="10535220" y="0"/>
                </a:lnTo>
                <a:lnTo>
                  <a:pt x="10535220" y="564062"/>
                </a:lnTo>
                <a:lnTo>
                  <a:pt x="0" y="5640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14830" y="3535877"/>
            <a:ext cx="4903699" cy="3215246"/>
          </a:xfrm>
          <a:custGeom>
            <a:avLst/>
            <a:gdLst/>
            <a:ahLst/>
            <a:cxnLst/>
            <a:rect r="r" b="b" t="t" l="l"/>
            <a:pathLst>
              <a:path h="3215246" w="4903699">
                <a:moveTo>
                  <a:pt x="0" y="0"/>
                </a:moveTo>
                <a:lnTo>
                  <a:pt x="4903699" y="0"/>
                </a:lnTo>
                <a:lnTo>
                  <a:pt x="4903699" y="3215246"/>
                </a:lnTo>
                <a:lnTo>
                  <a:pt x="0" y="32152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40233" y="3813922"/>
            <a:ext cx="3423419" cy="477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570"/>
              </a:lnSpc>
              <a:spcBef>
                <a:spcPct val="0"/>
              </a:spcBef>
            </a:pPr>
            <a:r>
              <a:rPr lang="en-US" sz="3570" spc="-2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Цільова функція: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14830" y="2792013"/>
            <a:ext cx="3359245" cy="315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56"/>
              </a:lnSpc>
              <a:spcBef>
                <a:spcPct val="0"/>
              </a:spcBef>
            </a:pPr>
            <a:r>
              <a:rPr lang="en-US" sz="2256" spc="-17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Система умов-обмежень: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0617" y="5465884"/>
            <a:ext cx="4916518" cy="88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02"/>
              </a:lnSpc>
              <a:spcBef>
                <a:spcPct val="0"/>
              </a:spcBef>
            </a:pPr>
            <a:r>
              <a:rPr lang="en-US" sz="3302" spc="-26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Розв’язок був здійснений методом штучного базису.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4681" y="1302011"/>
            <a:ext cx="5752078" cy="3707501"/>
          </a:xfrm>
          <a:custGeom>
            <a:avLst/>
            <a:gdLst/>
            <a:ahLst/>
            <a:cxnLst/>
            <a:rect r="r" b="b" t="t" l="l"/>
            <a:pathLst>
              <a:path h="3707501" w="5752078">
                <a:moveTo>
                  <a:pt x="0" y="0"/>
                </a:moveTo>
                <a:lnTo>
                  <a:pt x="5752078" y="0"/>
                </a:lnTo>
                <a:lnTo>
                  <a:pt x="5752078" y="3707501"/>
                </a:lnTo>
                <a:lnTo>
                  <a:pt x="0" y="37075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21892" y="1302011"/>
            <a:ext cx="5569913" cy="3707501"/>
          </a:xfrm>
          <a:custGeom>
            <a:avLst/>
            <a:gdLst/>
            <a:ahLst/>
            <a:cxnLst/>
            <a:rect r="r" b="b" t="t" l="l"/>
            <a:pathLst>
              <a:path h="3707501" w="5569913">
                <a:moveTo>
                  <a:pt x="0" y="0"/>
                </a:moveTo>
                <a:lnTo>
                  <a:pt x="5569913" y="0"/>
                </a:lnTo>
                <a:lnTo>
                  <a:pt x="5569913" y="3707501"/>
                </a:lnTo>
                <a:lnTo>
                  <a:pt x="0" y="37075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807704" y="1302011"/>
            <a:ext cx="5215217" cy="3707501"/>
          </a:xfrm>
          <a:custGeom>
            <a:avLst/>
            <a:gdLst/>
            <a:ahLst/>
            <a:cxnLst/>
            <a:rect r="r" b="b" t="t" l="l"/>
            <a:pathLst>
              <a:path h="3707501" w="5215217">
                <a:moveTo>
                  <a:pt x="0" y="0"/>
                </a:moveTo>
                <a:lnTo>
                  <a:pt x="5215217" y="0"/>
                </a:lnTo>
                <a:lnTo>
                  <a:pt x="5215217" y="3707501"/>
                </a:lnTo>
                <a:lnTo>
                  <a:pt x="0" y="37075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34681" y="5735959"/>
            <a:ext cx="5752078" cy="4086524"/>
          </a:xfrm>
          <a:custGeom>
            <a:avLst/>
            <a:gdLst/>
            <a:ahLst/>
            <a:cxnLst/>
            <a:rect r="r" b="b" t="t" l="l"/>
            <a:pathLst>
              <a:path h="4086524" w="5752078">
                <a:moveTo>
                  <a:pt x="0" y="0"/>
                </a:moveTo>
                <a:lnTo>
                  <a:pt x="5752078" y="0"/>
                </a:lnTo>
                <a:lnTo>
                  <a:pt x="5752078" y="4086524"/>
                </a:lnTo>
                <a:lnTo>
                  <a:pt x="0" y="40865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821892" y="5735959"/>
            <a:ext cx="5569913" cy="4126839"/>
          </a:xfrm>
          <a:custGeom>
            <a:avLst/>
            <a:gdLst/>
            <a:ahLst/>
            <a:cxnLst/>
            <a:rect r="r" b="b" t="t" l="l"/>
            <a:pathLst>
              <a:path h="4126839" w="5569913">
                <a:moveTo>
                  <a:pt x="0" y="0"/>
                </a:moveTo>
                <a:lnTo>
                  <a:pt x="5569913" y="0"/>
                </a:lnTo>
                <a:lnTo>
                  <a:pt x="5569913" y="4126839"/>
                </a:lnTo>
                <a:lnTo>
                  <a:pt x="0" y="41268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807704" y="5735959"/>
            <a:ext cx="5215217" cy="3861902"/>
          </a:xfrm>
          <a:custGeom>
            <a:avLst/>
            <a:gdLst/>
            <a:ahLst/>
            <a:cxnLst/>
            <a:rect r="r" b="b" t="t" l="l"/>
            <a:pathLst>
              <a:path h="3861902" w="5215217">
                <a:moveTo>
                  <a:pt x="0" y="0"/>
                </a:moveTo>
                <a:lnTo>
                  <a:pt x="5215217" y="0"/>
                </a:lnTo>
                <a:lnTo>
                  <a:pt x="5215217" y="3861902"/>
                </a:lnTo>
                <a:lnTo>
                  <a:pt x="0" y="38619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4681" y="368397"/>
            <a:ext cx="4858310" cy="3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Застосування симплекс-методу: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4681" y="859016"/>
            <a:ext cx="2086661" cy="365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Ітерація 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21892" y="859016"/>
            <a:ext cx="2322108" cy="365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Ітерація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07704" y="859016"/>
            <a:ext cx="2451029" cy="365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Ітерація 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4681" y="5214005"/>
            <a:ext cx="2331412" cy="365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Ітерація 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21892" y="5214005"/>
            <a:ext cx="2451029" cy="365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Ітерація 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07704" y="5214005"/>
            <a:ext cx="2361316" cy="365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Ітерація 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63201" y="3732142"/>
            <a:ext cx="10761598" cy="3749744"/>
          </a:xfrm>
          <a:custGeom>
            <a:avLst/>
            <a:gdLst/>
            <a:ahLst/>
            <a:cxnLst/>
            <a:rect r="r" b="b" t="t" l="l"/>
            <a:pathLst>
              <a:path h="3749744" w="10761598">
                <a:moveTo>
                  <a:pt x="0" y="0"/>
                </a:moveTo>
                <a:lnTo>
                  <a:pt x="10761598" y="0"/>
                </a:lnTo>
                <a:lnTo>
                  <a:pt x="10761598" y="3749744"/>
                </a:lnTo>
                <a:lnTo>
                  <a:pt x="0" y="37497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998934" y="2825716"/>
            <a:ext cx="4290131" cy="3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Результат симплекс-методу: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4915" y="1636076"/>
            <a:ext cx="4824372" cy="4824372"/>
          </a:xfrm>
          <a:custGeom>
            <a:avLst/>
            <a:gdLst/>
            <a:ahLst/>
            <a:cxnLst/>
            <a:rect r="r" b="b" t="t" l="l"/>
            <a:pathLst>
              <a:path h="4824372" w="4824372">
                <a:moveTo>
                  <a:pt x="0" y="0"/>
                </a:moveTo>
                <a:lnTo>
                  <a:pt x="4824372" y="0"/>
                </a:lnTo>
                <a:lnTo>
                  <a:pt x="4824372" y="4824372"/>
                </a:lnTo>
                <a:lnTo>
                  <a:pt x="0" y="48243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84940" y="4853672"/>
            <a:ext cx="4949021" cy="4404628"/>
          </a:xfrm>
          <a:custGeom>
            <a:avLst/>
            <a:gdLst/>
            <a:ahLst/>
            <a:cxnLst/>
            <a:rect r="r" b="b" t="t" l="l"/>
            <a:pathLst>
              <a:path h="4404628" w="4949021">
                <a:moveTo>
                  <a:pt x="0" y="0"/>
                </a:moveTo>
                <a:lnTo>
                  <a:pt x="4949021" y="0"/>
                </a:lnTo>
                <a:lnTo>
                  <a:pt x="4949021" y="4404628"/>
                </a:lnTo>
                <a:lnTo>
                  <a:pt x="0" y="44046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360985" y="1833511"/>
            <a:ext cx="6110280" cy="3727271"/>
          </a:xfrm>
          <a:custGeom>
            <a:avLst/>
            <a:gdLst/>
            <a:ahLst/>
            <a:cxnLst/>
            <a:rect r="r" b="b" t="t" l="l"/>
            <a:pathLst>
              <a:path h="3727271" w="6110280">
                <a:moveTo>
                  <a:pt x="0" y="0"/>
                </a:moveTo>
                <a:lnTo>
                  <a:pt x="6110280" y="0"/>
                </a:lnTo>
                <a:lnTo>
                  <a:pt x="6110280" y="3727270"/>
                </a:lnTo>
                <a:lnTo>
                  <a:pt x="0" y="37272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109287" y="867054"/>
            <a:ext cx="6069426" cy="3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Використане програмне забезпечення: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10723" y="1473678"/>
            <a:ext cx="9181863" cy="7689811"/>
          </a:xfrm>
          <a:custGeom>
            <a:avLst/>
            <a:gdLst/>
            <a:ahLst/>
            <a:cxnLst/>
            <a:rect r="r" b="b" t="t" l="l"/>
            <a:pathLst>
              <a:path h="7689811" w="9181863">
                <a:moveTo>
                  <a:pt x="0" y="0"/>
                </a:moveTo>
                <a:lnTo>
                  <a:pt x="9181864" y="0"/>
                </a:lnTo>
                <a:lnTo>
                  <a:pt x="9181864" y="7689811"/>
                </a:lnTo>
                <a:lnTo>
                  <a:pt x="0" y="76898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32373" y="867054"/>
            <a:ext cx="6338563" cy="3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Вигляд програми симплекс-калькулятора: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3055" y="3761852"/>
            <a:ext cx="8185891" cy="4277128"/>
          </a:xfrm>
          <a:custGeom>
            <a:avLst/>
            <a:gdLst/>
            <a:ahLst/>
            <a:cxnLst/>
            <a:rect r="r" b="b" t="t" l="l"/>
            <a:pathLst>
              <a:path h="4277128" w="8185891">
                <a:moveTo>
                  <a:pt x="0" y="0"/>
                </a:moveTo>
                <a:lnTo>
                  <a:pt x="8185891" y="0"/>
                </a:lnTo>
                <a:lnTo>
                  <a:pt x="8185891" y="4277128"/>
                </a:lnTo>
                <a:lnTo>
                  <a:pt x="0" y="4277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248664" y="3761852"/>
            <a:ext cx="8100213" cy="4232361"/>
          </a:xfrm>
          <a:custGeom>
            <a:avLst/>
            <a:gdLst/>
            <a:ahLst/>
            <a:cxnLst/>
            <a:rect r="r" b="b" t="t" l="l"/>
            <a:pathLst>
              <a:path h="4232361" w="8100213">
                <a:moveTo>
                  <a:pt x="0" y="0"/>
                </a:moveTo>
                <a:lnTo>
                  <a:pt x="8100213" y="0"/>
                </a:lnTo>
                <a:lnTo>
                  <a:pt x="8100213" y="4232361"/>
                </a:lnTo>
                <a:lnTo>
                  <a:pt x="0" y="42323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565325" y="657783"/>
            <a:ext cx="5157351" cy="3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Передбачені помилки у програмі: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1200184"/>
            <a:ext cx="11301259" cy="2952454"/>
          </a:xfrm>
          <a:custGeom>
            <a:avLst/>
            <a:gdLst/>
            <a:ahLst/>
            <a:cxnLst/>
            <a:rect r="r" b="b" t="t" l="l"/>
            <a:pathLst>
              <a:path h="2952454" w="11301259">
                <a:moveTo>
                  <a:pt x="0" y="0"/>
                </a:moveTo>
                <a:lnTo>
                  <a:pt x="11301258" y="0"/>
                </a:lnTo>
                <a:lnTo>
                  <a:pt x="11301258" y="2952454"/>
                </a:lnTo>
                <a:lnTo>
                  <a:pt x="0" y="29524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17351" y="5314950"/>
            <a:ext cx="11301259" cy="3206732"/>
          </a:xfrm>
          <a:custGeom>
            <a:avLst/>
            <a:gdLst/>
            <a:ahLst/>
            <a:cxnLst/>
            <a:rect r="r" b="b" t="t" l="l"/>
            <a:pathLst>
              <a:path h="3206732" w="11301259">
                <a:moveTo>
                  <a:pt x="0" y="0"/>
                </a:moveTo>
                <a:lnTo>
                  <a:pt x="11301259" y="0"/>
                </a:lnTo>
                <a:lnTo>
                  <a:pt x="11301259" y="3206732"/>
                </a:lnTo>
                <a:lnTo>
                  <a:pt x="0" y="32067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19339" y="657783"/>
            <a:ext cx="8297282" cy="3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Результат програми за введеними в курсовій даними: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95359" y="4772583"/>
            <a:ext cx="8297282" cy="3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Результат програми, якщо б B = 5000, а не 50000: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DAHLc28wLWg</dc:identifier>
  <dcterms:modified xsi:type="dcterms:W3CDTF">2011-08-01T06:04:30Z</dcterms:modified>
  <cp:revision>1</cp:revision>
  <dc:title>Курсова робота</dc:title>
</cp:coreProperties>
</file>